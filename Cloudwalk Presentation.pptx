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embeddedFontLst>
    <p:embeddedFont>
      <p:font typeface="Lora"/>
      <p:regular r:id="rId14"/>
    </p:embeddedFont>
    <p:embeddedFont>
      <p:font typeface="Lora Bold"/>
      <p:regular r:id="rId15"/>
    </p:embeddedFont>
    <p:embeddedFont>
      <p:font typeface="Source Sans 3"/>
      <p:regular r:id="rId16"/>
    </p:embeddedFont>
    <p:embeddedFont>
      <p:font typeface="Source Sans 3 Bold"/>
      <p:regular r:id="rId1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slideLayout" Target="../slideLayouts/slideLayout7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758925"/>
            <a:ext cx="4843239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CloudWalk Funnel Analysis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2498154"/>
            <a:ext cx="8096845" cy="886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600 candidates · 100 openings · 6 recruiters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· Jan 2025 → Jun 2025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Goal: identify funnel bottlenecks, recruiter patterns, sourcing effectiveness, and opportunities to improve hiring conversion, adding AI whenever useful.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721444"/>
            <a:ext cx="5274022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Funnel Analysis &amp; Conversion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535460"/>
            <a:ext cx="2574280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32%</a:t>
            </a:r>
            <a:endParaRPr lang="en-US" sz="3850" dirty="0"/>
          </a:p>
        </p:txBody>
      </p:sp>
      <p:sp>
        <p:nvSpPr>
          <p:cNvPr id="4" name="Text 2"/>
          <p:cNvSpPr/>
          <p:nvPr/>
        </p:nvSpPr>
        <p:spPr>
          <a:xfrm>
            <a:off x="930622" y="2216125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 Response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23577" y="2525837"/>
            <a:ext cx="2574280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32% of candidates never responded to the first contact.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284860" y="1535460"/>
            <a:ext cx="2574280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9</a:t>
            </a:r>
            <a:endParaRPr lang="en-US" sz="3850" dirty="0"/>
          </a:p>
        </p:txBody>
      </p:sp>
      <p:sp>
        <p:nvSpPr>
          <p:cNvPr id="7" name="Text 5"/>
          <p:cNvSpPr/>
          <p:nvPr/>
        </p:nvSpPr>
        <p:spPr>
          <a:xfrm>
            <a:off x="3660577" y="2216125"/>
            <a:ext cx="182284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Great Candidates Lost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284860" y="2525837"/>
            <a:ext cx="2574280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Some candidates with high scores in both tests did not convert to a hire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046143" y="1535460"/>
            <a:ext cx="2574280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100</a:t>
            </a:r>
            <a:endParaRPr lang="en-US" sz="3850" dirty="0"/>
          </a:p>
        </p:txBody>
      </p:sp>
      <p:sp>
        <p:nvSpPr>
          <p:cNvPr id="10" name="Text 8"/>
          <p:cNvSpPr/>
          <p:nvPr/>
        </p:nvSpPr>
        <p:spPr>
          <a:xfrm>
            <a:off x="6453188" y="2216125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Openings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046143" y="2525837"/>
            <a:ext cx="2574280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Open requisitions during the period.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23577" y="3172867"/>
            <a:ext cx="8096845" cy="1249114"/>
          </a:xfrm>
          <a:prstGeom prst="roundRect">
            <a:avLst>
              <a:gd name="adj" fmla="val 1797"/>
            </a:avLst>
          </a:prstGeom>
          <a:solidFill>
            <a:srgbClr val="022349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150" y="3390826"/>
            <a:ext cx="187003" cy="14957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09724" y="3359795"/>
            <a:ext cx="7461126" cy="8527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biggest losses in the funnel occur after technical assessments - the main opportunity is to improve conversion among already qualified candidates.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Response rates were low, especially in BP roles. This can also be improved.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658317"/>
            <a:ext cx="5569372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Sourcing Channel Performance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523577" y="2397547"/>
            <a:ext cx="2599209" cy="1087636"/>
          </a:xfrm>
          <a:prstGeom prst="roundRect">
            <a:avLst>
              <a:gd name="adj" fmla="val 2063"/>
            </a:avLst>
          </a:prstGeom>
          <a:solidFill>
            <a:srgbClr val="444752"/>
          </a:solidFill>
          <a:ln/>
        </p:spPr>
      </p:sp>
      <p:sp>
        <p:nvSpPr>
          <p:cNvPr id="4" name="Text 2"/>
          <p:cNvSpPr/>
          <p:nvPr/>
        </p:nvSpPr>
        <p:spPr>
          <a:xfrm>
            <a:off x="673150" y="2547119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GitHub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73150" y="2856830"/>
            <a:ext cx="2300064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Highest conversion rate to hire among all channels analyzed.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72358" y="2397547"/>
            <a:ext cx="2599209" cy="1087636"/>
          </a:xfrm>
          <a:prstGeom prst="roundRect">
            <a:avLst>
              <a:gd name="adj" fmla="val 2063"/>
            </a:avLst>
          </a:prstGeom>
          <a:solidFill>
            <a:srgbClr val="444752"/>
          </a:solidFill>
          <a:ln/>
        </p:spPr>
      </p:sp>
      <p:sp>
        <p:nvSpPr>
          <p:cNvPr id="7" name="Text 5"/>
          <p:cNvSpPr/>
          <p:nvPr/>
        </p:nvSpPr>
        <p:spPr>
          <a:xfrm>
            <a:off x="3421931" y="2547119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Referrals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421931" y="2856830"/>
            <a:ext cx="2300064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Worst channel across the whole dataset.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21139" y="2397547"/>
            <a:ext cx="2599283" cy="1087636"/>
          </a:xfrm>
          <a:prstGeom prst="roundRect">
            <a:avLst>
              <a:gd name="adj" fmla="val 2063"/>
            </a:avLst>
          </a:prstGeom>
          <a:solidFill>
            <a:srgbClr val="444752"/>
          </a:solidFill>
          <a:ln/>
        </p:spPr>
      </p:sp>
      <p:sp>
        <p:nvSpPr>
          <p:cNvPr id="10" name="Text 8"/>
          <p:cNvSpPr/>
          <p:nvPr/>
        </p:nvSpPr>
        <p:spPr>
          <a:xfrm>
            <a:off x="6170712" y="2547119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Technical Sourcing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170712" y="2856830"/>
            <a:ext cx="230013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Personalized outreach can be more effective than generalized outreach.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925339"/>
            <a:ext cx="5842174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Recruiter Specialization Patterns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425178"/>
            <a:ext cx="2662833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Specialization Opportunity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23577" y="1869504"/>
            <a:ext cx="8554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Some recruiters consistently perform better in specific roles.</a:t>
            </a:r>
            <a:endParaRPr lang="en-US" sz="11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4527" y="2277145"/>
            <a:ext cx="3992687" cy="88634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350" y="2445767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Bruno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49350" y="2755478"/>
            <a:ext cx="357924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Stronger conversion in People/TA roles.</a:t>
            </a:r>
            <a:endParaRPr lang="en-US" sz="11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7736" y="2277145"/>
            <a:ext cx="3992687" cy="88634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872558" y="2445767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Ana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872558" y="2755478"/>
            <a:ext cx="357924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Stronger conversion in technical/data recruiting.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523577" y="3331741"/>
            <a:ext cx="8096845" cy="886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Specialization by profile can improve sourcing precision and conversion consistency.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Bruno and Ana show valuable qualities across sourcing, client and candidate relationship that if replicated to the rest of the team, can improve productivity.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418927"/>
            <a:ext cx="4649614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Candidate Quality Signals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523577" y="2158157"/>
            <a:ext cx="8096845" cy="1566416"/>
          </a:xfrm>
          <a:prstGeom prst="roundRect">
            <a:avLst>
              <a:gd name="adj" fmla="val 1433"/>
            </a:avLst>
          </a:prstGeom>
          <a:solidFill>
            <a:srgbClr val="444752"/>
          </a:solidFill>
          <a:ln/>
        </p:spPr>
      </p:sp>
      <p:sp>
        <p:nvSpPr>
          <p:cNvPr id="4" name="Shape 2"/>
          <p:cNvSpPr/>
          <p:nvPr/>
        </p:nvSpPr>
        <p:spPr>
          <a:xfrm>
            <a:off x="523577" y="2158157"/>
            <a:ext cx="2698924" cy="1566416"/>
          </a:xfrm>
          <a:prstGeom prst="roundRect">
            <a:avLst>
              <a:gd name="adj" fmla="val 1433"/>
            </a:avLst>
          </a:prstGeom>
          <a:solidFill>
            <a:srgbClr val="444752"/>
          </a:solidFill>
          <a:ln/>
        </p:spPr>
      </p:sp>
      <p:sp>
        <p:nvSpPr>
          <p:cNvPr id="5" name="Text 3"/>
          <p:cNvSpPr/>
          <p:nvPr/>
        </p:nvSpPr>
        <p:spPr>
          <a:xfrm>
            <a:off x="673150" y="2307729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Score ≥ 80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73150" y="2617440"/>
            <a:ext cx="2399779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Candidates with a score of 80 or more on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Technical and Behavioral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tests are the most frequently hired in the dataset.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22501" y="2158157"/>
            <a:ext cx="2698924" cy="1566416"/>
          </a:xfrm>
          <a:prstGeom prst="rect">
            <a:avLst/>
          </a:prstGeom>
          <a:solidFill>
            <a:srgbClr val="444752"/>
          </a:solidFill>
          <a:ln/>
        </p:spPr>
      </p:sp>
      <p:sp>
        <p:nvSpPr>
          <p:cNvPr id="8" name="Shape 6"/>
          <p:cNvSpPr/>
          <p:nvPr/>
        </p:nvSpPr>
        <p:spPr>
          <a:xfrm>
            <a:off x="3222501" y="2158157"/>
            <a:ext cx="19050" cy="1566416"/>
          </a:xfrm>
          <a:prstGeom prst="roundRect">
            <a:avLst>
              <a:gd name="adj" fmla="val 117806"/>
            </a:avLst>
          </a:prstGeom>
          <a:solidFill>
            <a:srgbClr val="5D606B"/>
          </a:solidFill>
          <a:ln/>
        </p:spPr>
      </p:sp>
      <p:sp>
        <p:nvSpPr>
          <p:cNvPr id="9" name="Text 7"/>
          <p:cNvSpPr/>
          <p:nvPr/>
        </p:nvSpPr>
        <p:spPr>
          <a:xfrm>
            <a:off x="3372073" y="2307729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Strongest Signal: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372073" y="2617440"/>
            <a:ext cx="2399779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Balanced performance across technical and behavioral tests was the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best predictor of hiring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21425" y="2158157"/>
            <a:ext cx="2698924" cy="1566416"/>
          </a:xfrm>
          <a:prstGeom prst="rect">
            <a:avLst/>
          </a:prstGeom>
          <a:solidFill>
            <a:srgbClr val="444752"/>
          </a:solidFill>
          <a:ln/>
        </p:spPr>
      </p:sp>
      <p:sp>
        <p:nvSpPr>
          <p:cNvPr id="12" name="Shape 10"/>
          <p:cNvSpPr/>
          <p:nvPr/>
        </p:nvSpPr>
        <p:spPr>
          <a:xfrm>
            <a:off x="5921425" y="2158157"/>
            <a:ext cx="19050" cy="1566416"/>
          </a:xfrm>
          <a:prstGeom prst="roundRect">
            <a:avLst>
              <a:gd name="adj" fmla="val 117806"/>
            </a:avLst>
          </a:prstGeom>
          <a:solidFill>
            <a:srgbClr val="5D606B"/>
          </a:solidFill>
          <a:ln/>
        </p:spPr>
      </p:sp>
      <p:sp>
        <p:nvSpPr>
          <p:cNvPr id="13" name="Text 11"/>
          <p:cNvSpPr/>
          <p:nvPr/>
        </p:nvSpPr>
        <p:spPr>
          <a:xfrm>
            <a:off x="6070997" y="2307729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Score ≤ 70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070997" y="2617440"/>
            <a:ext cx="2399779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Candidates with a score of 70 or less on either test had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zero hires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across the entire dataset.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890439"/>
            <a:ext cx="5267399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Prioritization in Recruiting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881634"/>
            <a:ext cx="1361480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797546" y="1704380"/>
            <a:ext cx="275116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Proposal: "Hireability Score"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797546" y="2073920"/>
            <a:ext cx="728476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Combined score based on technical + behavioral performance to prioritize recruiters' efforts.</a:t>
            </a:r>
            <a:endParaRPr lang="en-US" sz="11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9686" y="2620826"/>
            <a:ext cx="224358" cy="2243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9724" y="2616175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Prioritization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009724" y="2925887"/>
            <a:ext cx="3468737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Focus efforts on candidates with the highest conversion potential.</a:t>
            </a:r>
            <a:endParaRPr lang="en-US" sz="11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21572" y="2620826"/>
            <a:ext cx="224358" cy="22435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51611" y="2616175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Persistence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5151611" y="2925887"/>
            <a:ext cx="3468812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Keep engaging high-score candidates who have not responded yet - Especially after great scores.</a:t>
            </a:r>
            <a:endParaRPr lang="en-US" sz="11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9686" y="3708536"/>
            <a:ext cx="224358" cy="22435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09724" y="3703886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Early Fit Analysis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1009724" y="4013597"/>
            <a:ext cx="3468737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Early detection of role alignment.</a:t>
            </a:r>
            <a:endParaRPr lang="en-US" sz="11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21572" y="3708536"/>
            <a:ext cx="224358" cy="22435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151611" y="3703886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Forecast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5151611" y="4013597"/>
            <a:ext cx="346881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Can be used in forecasting for headcount planning.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8167" y="363364"/>
            <a:ext cx="3537421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Recommendations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167" y="977354"/>
            <a:ext cx="8227665" cy="9441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10555" y="1122536"/>
            <a:ext cx="1555849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Specialization by Role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110555" y="1383729"/>
            <a:ext cx="7430095" cy="392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Align recruiters with their highest-performing areas to gain speed and productivity.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Request them to share what has been working with their colleagues.</a:t>
            </a:r>
            <a:endParaRPr lang="en-US" sz="1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67" y="2036043"/>
            <a:ext cx="8227665" cy="94416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10555" y="2181225"/>
            <a:ext cx="1630189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Personalized Outreach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110555" y="2442418"/>
            <a:ext cx="7430095" cy="392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Improve the top of the funnel with OSINT, email, WhatsApp, and phone: Personalized technical sales approaches convert better on first contact.</a:t>
            </a:r>
            <a:endParaRPr lang="en-US" sz="10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67" y="3094732"/>
            <a:ext cx="8227665" cy="7854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10555" y="3239914"/>
            <a:ext cx="15400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Post-Test Nurturing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1110555" y="3501107"/>
            <a:ext cx="7430095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Prioritize follow-up with great candidates : (Scores 80 or more on both tests) the biggest bottleneck identified in the funnel.</a:t>
            </a:r>
            <a:endParaRPr lang="en-US" sz="10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67" y="3994696"/>
            <a:ext cx="8227665" cy="7854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10555" y="4139878"/>
            <a:ext cx="15400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AI-Assisted Scoring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1110555" y="4401071"/>
            <a:ext cx="7430095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Implement the Hireability Score to optimize recruiter effort and predict conversion.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2026-05-29T02:44:05Z</dcterms:created>
  <dcterms:modified xsi:type="dcterms:W3CDTF">2026-05-29T02:44:05Z</dcterms:modified>
</cp:coreProperties>
</file>